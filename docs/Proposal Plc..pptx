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7556500" cy="10693400"/>
  <p:notesSz cx="6858000" cy="9144000"/>
  <p:embeddedFontLst>
    <p:embeddedFont>
      <p:font typeface="Calibri" panose="020F0502020204030204" pitchFamily="34" charset="0"/>
      <p:regular r:id="rId4"/>
      <p:bold r:id="rId5"/>
    </p:embeddedFont>
    <p:embeddedFont>
      <p:font typeface="Noto Sans Arabic Condensed" panose="020B0506040504020204" pitchFamily="34"/>
      <p:regular r:id="rId6"/>
    </p:embeddedFont>
    <p:embeddedFont>
      <p:font typeface="Noto Sans Arabic Condensed Light" panose="020B0406040504020204" pitchFamily="34"/>
      <p:regular r:id="rId7"/>
    </p:embeddedFont>
    <p:embeddedFont>
      <p:font typeface="Tajawal" pitchFamily="2" charset="-78"/>
      <p:regular r:id="rId8"/>
    </p:embeddedFont>
    <p:embeddedFont>
      <p:font typeface="Tajawal Medium" pitchFamily="2" charset="-78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2578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font" Target="fonts/font4.fntdata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font" Target="fonts/font3.fntdata" /><Relationship Id="rId11" Type="http://schemas.openxmlformats.org/officeDocument/2006/relationships/viewProps" Target="viewProps.xml" /><Relationship Id="rId5" Type="http://schemas.openxmlformats.org/officeDocument/2006/relationships/font" Target="fonts/font2.fntdata" /><Relationship Id="rId10" Type="http://schemas.openxmlformats.org/officeDocument/2006/relationships/presProps" Target="presProps.xml" /><Relationship Id="rId4" Type="http://schemas.openxmlformats.org/officeDocument/2006/relationships/font" Target="fonts/font1.fntdata" /><Relationship Id="rId9" Type="http://schemas.openxmlformats.org/officeDocument/2006/relationships/font" Target="fonts/font6.fntdata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454" y="-139700"/>
            <a:ext cx="4647904" cy="1750925"/>
            <a:chOff x="0" y="0"/>
            <a:chExt cx="4295599" cy="1618208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4295599" cy="1618208"/>
            </a:xfrm>
            <a:custGeom>
              <a:avLst/>
              <a:gdLst/>
              <a:ahLst/>
              <a:cxnLst/>
              <a:rect l="l" t="t" r="r" b="b"/>
              <a:pathLst>
                <a:path w="4295599" h="1618208">
                  <a:moveTo>
                    <a:pt x="4295599" y="0"/>
                  </a:moveTo>
                  <a:lnTo>
                    <a:pt x="0" y="0"/>
                  </a:lnTo>
                  <a:lnTo>
                    <a:pt x="0" y="1618208"/>
                  </a:lnTo>
                  <a:lnTo>
                    <a:pt x="4295599" y="1618208"/>
                  </a:lnTo>
                  <a:close/>
                </a:path>
              </a:pathLst>
            </a:custGeom>
            <a:solidFill>
              <a:srgbClr val="414562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412750" y="455611"/>
            <a:ext cx="4203700" cy="623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23"/>
              </a:lnSpc>
            </a:pPr>
            <a:r>
              <a:rPr lang="ar-YE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</a:t>
            </a:r>
            <a:r>
              <a:rPr lang="ar-YE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YE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Bottle</a:t>
            </a:r>
            <a:r>
              <a:rPr lang="ar-YE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YE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Filling</a:t>
            </a:r>
            <a:r>
              <a:rPr lang="ar-YE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YE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lang="ar-YE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YE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en-US" sz="2800" b="1" dirty="0">
              <a:solidFill>
                <a:schemeClr val="bg1"/>
              </a:solidFill>
              <a:latin typeface="Times New Roman" panose="02020603050405020304" pitchFamily="18" charset="0"/>
              <a:ea typeface="Noto Sans Arabic Condensed"/>
              <a:cs typeface="Times New Roman" panose="02020603050405020304" pitchFamily="18" charset="0"/>
              <a:sym typeface="Noto Sans Arabic Condense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76014" y="2908300"/>
            <a:ext cx="5664436" cy="654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56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This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project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involves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designing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and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simulating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an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automated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bottle-filling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line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using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Factory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IO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and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TIA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Portal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.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The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goal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is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to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create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a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precise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and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efficient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filling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process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using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PID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control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.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ea typeface="Tajawal"/>
              <a:cs typeface="Times New Roman" panose="02020603050405020304" pitchFamily="18" charset="0"/>
              <a:sym typeface="Tajawal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76014" y="1648387"/>
            <a:ext cx="2311636" cy="2902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44" dirty="0">
                <a:solidFill>
                  <a:schemeClr val="tx2">
                    <a:lumMod val="60000"/>
                    <a:lumOff val="40000"/>
                  </a:schemeClr>
                </a:solidFill>
                <a:latin typeface="Tajawal"/>
                <a:ea typeface="Tajawal"/>
                <a:cs typeface="Tajawal"/>
                <a:sym typeface="Tajawal"/>
              </a:rPr>
              <a:t>PROJECT PROPOSAL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83200" y="513497"/>
            <a:ext cx="1847850" cy="914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5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 Medium"/>
                <a:cs typeface="Times New Roman" panose="02020603050405020304" pitchFamily="18" charset="0"/>
                <a:sym typeface="Tajawal Medium"/>
              </a:rPr>
              <a:t>Done by: </a:t>
            </a:r>
          </a:p>
          <a:p>
            <a:pPr algn="ctr">
              <a:lnSpc>
                <a:spcPts val="1445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 Medium"/>
                <a:cs typeface="Times New Roman" panose="02020603050405020304" pitchFamily="18" charset="0"/>
                <a:sym typeface="Tajawal Medium"/>
              </a:rPr>
              <a:t>Musa AL-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 Medium"/>
                <a:cs typeface="Times New Roman" panose="02020603050405020304" pitchFamily="18" charset="0"/>
                <a:sym typeface="Tajawal Medium"/>
              </a:rPr>
              <a:t>slamani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 Medium"/>
                <a:cs typeface="Times New Roman" panose="02020603050405020304" pitchFamily="18" charset="0"/>
                <a:sym typeface="Tajawal Medium"/>
              </a:rPr>
              <a:t> 202174202</a:t>
            </a:r>
          </a:p>
          <a:p>
            <a:pPr algn="ctr">
              <a:lnSpc>
                <a:spcPts val="1445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 Medium"/>
                <a:cs typeface="Times New Roman" panose="02020603050405020304" pitchFamily="18" charset="0"/>
                <a:sym typeface="Tajawal Medium"/>
              </a:rPr>
              <a:t>Hassan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 Medium"/>
                <a:cs typeface="Times New Roman" panose="02020603050405020304" pitchFamily="18" charset="0"/>
                <a:sym typeface="Tajawal Medium"/>
              </a:rPr>
              <a:t>Moqbel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 Medium"/>
                <a:cs typeface="Times New Roman" panose="02020603050405020304" pitchFamily="18" charset="0"/>
                <a:sym typeface="Tajawal Medium"/>
              </a:rPr>
              <a:t>   202274198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-9648" y="3975100"/>
            <a:ext cx="3204962" cy="480509"/>
            <a:chOff x="0" y="0"/>
            <a:chExt cx="4943702" cy="824859"/>
          </a:xfrm>
        </p:grpSpPr>
        <p:sp>
          <p:nvSpPr>
            <p:cNvPr id="9" name="Freeform 9"/>
            <p:cNvSpPr/>
            <p:nvPr/>
          </p:nvSpPr>
          <p:spPr>
            <a:xfrm flipH="1">
              <a:off x="0" y="0"/>
              <a:ext cx="4943702" cy="824859"/>
            </a:xfrm>
            <a:custGeom>
              <a:avLst/>
              <a:gdLst/>
              <a:ahLst/>
              <a:cxnLst/>
              <a:rect l="l" t="t" r="r" b="b"/>
              <a:pathLst>
                <a:path w="4943702" h="824859">
                  <a:moveTo>
                    <a:pt x="4943702" y="0"/>
                  </a:moveTo>
                  <a:lnTo>
                    <a:pt x="0" y="0"/>
                  </a:lnTo>
                  <a:lnTo>
                    <a:pt x="0" y="824859"/>
                  </a:lnTo>
                  <a:lnTo>
                    <a:pt x="4943702" y="824859"/>
                  </a:lnTo>
                  <a:close/>
                </a:path>
              </a:pathLst>
            </a:custGeom>
            <a:solidFill>
              <a:srgbClr val="95B0CE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56597" y="5414630"/>
            <a:ext cx="3214610" cy="482577"/>
            <a:chOff x="0" y="0"/>
            <a:chExt cx="4882239" cy="671806"/>
          </a:xfrm>
        </p:grpSpPr>
        <p:sp>
          <p:nvSpPr>
            <p:cNvPr id="12" name="Freeform 12"/>
            <p:cNvSpPr/>
            <p:nvPr/>
          </p:nvSpPr>
          <p:spPr>
            <a:xfrm flipH="1">
              <a:off x="0" y="0"/>
              <a:ext cx="4882239" cy="671806"/>
            </a:xfrm>
            <a:custGeom>
              <a:avLst/>
              <a:gdLst/>
              <a:ahLst/>
              <a:cxnLst/>
              <a:rect l="l" t="t" r="r" b="b"/>
              <a:pathLst>
                <a:path w="4882239" h="671806">
                  <a:moveTo>
                    <a:pt x="4882239" y="0"/>
                  </a:moveTo>
                  <a:lnTo>
                    <a:pt x="0" y="0"/>
                  </a:lnTo>
                  <a:lnTo>
                    <a:pt x="0" y="671806"/>
                  </a:lnTo>
                  <a:lnTo>
                    <a:pt x="4882239" y="671806"/>
                  </a:lnTo>
                  <a:close/>
                </a:path>
              </a:pathLst>
            </a:custGeom>
            <a:solidFill>
              <a:srgbClr val="95B0CE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93300" y="5462423"/>
            <a:ext cx="2889525" cy="727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44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  <a:p>
            <a:pPr algn="ctr">
              <a:lnSpc>
                <a:spcPts val="3044"/>
              </a:lnSpc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0" y="8403822"/>
            <a:ext cx="3195314" cy="482576"/>
            <a:chOff x="0" y="0"/>
            <a:chExt cx="5098056" cy="555895"/>
          </a:xfrm>
        </p:grpSpPr>
        <p:sp>
          <p:nvSpPr>
            <p:cNvPr id="15" name="Freeform 15"/>
            <p:cNvSpPr/>
            <p:nvPr/>
          </p:nvSpPr>
          <p:spPr>
            <a:xfrm flipH="1">
              <a:off x="0" y="0"/>
              <a:ext cx="5098056" cy="555895"/>
            </a:xfrm>
            <a:custGeom>
              <a:avLst/>
              <a:gdLst/>
              <a:ahLst/>
              <a:cxnLst/>
              <a:rect l="l" t="t" r="r" b="b"/>
              <a:pathLst>
                <a:path w="5098056" h="555895">
                  <a:moveTo>
                    <a:pt x="5098056" y="0"/>
                  </a:moveTo>
                  <a:lnTo>
                    <a:pt x="0" y="0"/>
                  </a:lnTo>
                  <a:lnTo>
                    <a:pt x="0" y="555895"/>
                  </a:lnTo>
                  <a:lnTo>
                    <a:pt x="5098056" y="555895"/>
                  </a:lnTo>
                  <a:close/>
                </a:path>
              </a:pathLst>
            </a:custGeom>
            <a:solidFill>
              <a:srgbClr val="95B0CE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93300" y="8481132"/>
            <a:ext cx="3151550" cy="294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1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0" y="2372313"/>
            <a:ext cx="3195314" cy="475404"/>
            <a:chOff x="0" y="0"/>
            <a:chExt cx="4511424" cy="726754"/>
          </a:xfrm>
        </p:grpSpPr>
        <p:sp>
          <p:nvSpPr>
            <p:cNvPr id="18" name="Freeform 18"/>
            <p:cNvSpPr/>
            <p:nvPr/>
          </p:nvSpPr>
          <p:spPr>
            <a:xfrm flipH="1">
              <a:off x="0" y="0"/>
              <a:ext cx="4511424" cy="726754"/>
            </a:xfrm>
            <a:custGeom>
              <a:avLst/>
              <a:gdLst/>
              <a:ahLst/>
              <a:cxnLst/>
              <a:rect l="l" t="t" r="r" b="b"/>
              <a:pathLst>
                <a:path w="4511425" h="726754">
                  <a:moveTo>
                    <a:pt x="4511425" y="0"/>
                  </a:moveTo>
                  <a:lnTo>
                    <a:pt x="0" y="0"/>
                  </a:lnTo>
                  <a:lnTo>
                    <a:pt x="0" y="726754"/>
                  </a:lnTo>
                  <a:lnTo>
                    <a:pt x="4511425" y="726754"/>
                  </a:lnTo>
                  <a:close/>
                </a:path>
              </a:pathLst>
            </a:custGeom>
            <a:solidFill>
              <a:srgbClr val="95B0CE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305788" y="2419531"/>
            <a:ext cx="2791157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977"/>
              </a:lnSpc>
            </a:pPr>
            <a:r>
              <a:rPr lang="en-US" sz="2126" dirty="0">
                <a:solidFill>
                  <a:srgbClr val="FFFFFF"/>
                </a:solidFill>
                <a:latin typeface="Noto Sans Arabic Condensed"/>
                <a:ea typeface="Noto Sans Arabic Condensed"/>
                <a:cs typeface="Noto Sans Arabic Condensed"/>
                <a:sym typeface="Noto Sans Arabic Condensed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6014" y="4615603"/>
            <a:ext cx="5664436" cy="654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Develop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a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detailed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simulation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of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a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bottle-filling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line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.
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Implement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control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logic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using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TIA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Portal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.
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Integrate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and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optimize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a PID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control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system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for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accurate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filling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.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ea typeface="Tajawal"/>
              <a:cs typeface="Times New Roman" panose="02020603050405020304" pitchFamily="18" charset="0"/>
              <a:sym typeface="Tajawal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76014" y="6064274"/>
            <a:ext cx="5816836" cy="19620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Factory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IO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for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3D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simulation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ea typeface="Tajawal"/>
              <a:cs typeface="Times New Roman" panose="02020603050405020304" pitchFamily="18" charset="0"/>
              <a:sym typeface="Tajawal"/>
            </a:endParaRPr>
          </a:p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TIA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Portal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: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Software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for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programming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PLCs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and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developing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control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logic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ea typeface="Tajawal"/>
              <a:cs typeface="Times New Roman" panose="02020603050405020304" pitchFamily="18" charset="0"/>
              <a:sym typeface="Tajawal"/>
            </a:endParaRPr>
          </a:p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PLC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Unit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: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Such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as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Siemens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S7-1200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or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S7-1500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for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process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control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.
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Sensors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: 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To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detect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the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presence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of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bottles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and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liquid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levels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in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the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tank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.
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Actuators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: 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Valves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to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control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the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flow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of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liquid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into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the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bottles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.
PID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Control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System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: 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To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ensure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precise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control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of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the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liquid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level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.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ea typeface="Tajawal"/>
              <a:cs typeface="Times New Roman" panose="02020603050405020304" pitchFamily="18" charset="0"/>
              <a:sym typeface="Tajawal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76014" y="8928100"/>
            <a:ext cx="6000750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Software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licenses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for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Factory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IO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and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TIA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Portal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. 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ea typeface="Tajawal"/>
              <a:cs typeface="Times New Roman" panose="02020603050405020304" pitchFamily="18" charset="0"/>
              <a:sym typeface="Tajawal"/>
            </a:endParaRPr>
          </a:p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Compatible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PC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with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relevant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specifications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.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ea typeface="Tajawal"/>
              <a:cs typeface="Times New Roman" panose="02020603050405020304" pitchFamily="18" charset="0"/>
              <a:sym typeface="Tajawal"/>
            </a:endParaRPr>
          </a:p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Knowledge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of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PLC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programming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and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PID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tuning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.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ea typeface="Tajawal"/>
              <a:cs typeface="Times New Roman" panose="02020603050405020304" pitchFamily="18" charset="0"/>
              <a:sym typeface="Tajawal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C254AB-3AD9-4CB1-B664-81CB9D22472A}"/>
              </a:ext>
            </a:extLst>
          </p:cNvPr>
          <p:cNvSpPr/>
          <p:nvPr/>
        </p:nvSpPr>
        <p:spPr>
          <a:xfrm>
            <a:off x="600143" y="3982023"/>
            <a:ext cx="16466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BCBF74-6D12-40D7-B398-EEAA7BA66ABC}"/>
              </a:ext>
            </a:extLst>
          </p:cNvPr>
          <p:cNvSpPr/>
          <p:nvPr/>
        </p:nvSpPr>
        <p:spPr>
          <a:xfrm>
            <a:off x="535046" y="2381823"/>
            <a:ext cx="2031325" cy="3740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INTRODUCTION</a:t>
            </a:r>
            <a:endParaRPr lang="en-US" sz="10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5450" y="1003300"/>
            <a:ext cx="5981700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Design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the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Simulation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ea typeface="Tajawal"/>
              <a:cs typeface="Times New Roman" panose="02020603050405020304" pitchFamily="18" charset="0"/>
              <a:sym typeface="Tajawal"/>
            </a:endParaRPr>
          </a:p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Program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the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PLC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ea typeface="Tajawal"/>
              <a:cs typeface="Times New Roman" panose="02020603050405020304" pitchFamily="18" charset="0"/>
              <a:sym typeface="Tajawal"/>
            </a:endParaRPr>
          </a:p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Test the System</a:t>
            </a:r>
          </a:p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Documentation and Evaluation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469900"/>
            <a:ext cx="2985149" cy="461781"/>
            <a:chOff x="0" y="0"/>
            <a:chExt cx="4511424" cy="726754"/>
          </a:xfrm>
        </p:grpSpPr>
        <p:sp>
          <p:nvSpPr>
            <p:cNvPr id="4" name="Freeform 4"/>
            <p:cNvSpPr/>
            <p:nvPr/>
          </p:nvSpPr>
          <p:spPr>
            <a:xfrm flipH="1">
              <a:off x="0" y="0"/>
              <a:ext cx="4511424" cy="726754"/>
            </a:xfrm>
            <a:custGeom>
              <a:avLst/>
              <a:gdLst/>
              <a:ahLst/>
              <a:cxnLst/>
              <a:rect l="l" t="t" r="r" b="b"/>
              <a:pathLst>
                <a:path w="4511425" h="726754">
                  <a:moveTo>
                    <a:pt x="4511425" y="0"/>
                  </a:moveTo>
                  <a:lnTo>
                    <a:pt x="0" y="0"/>
                  </a:lnTo>
                  <a:lnTo>
                    <a:pt x="0" y="726754"/>
                  </a:lnTo>
                  <a:lnTo>
                    <a:pt x="4511425" y="726754"/>
                  </a:lnTo>
                  <a:close/>
                </a:path>
              </a:pathLst>
            </a:custGeom>
            <a:solidFill>
              <a:srgbClr val="95B0CE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18307" y="551010"/>
            <a:ext cx="2475031" cy="2998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81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Plan</a:t>
            </a:r>
            <a:endParaRPr lang="en-US" sz="1772" b="1" dirty="0">
              <a:solidFill>
                <a:schemeClr val="bg1"/>
              </a:solidFill>
              <a:latin typeface="Times New Roman" panose="02020603050405020304" pitchFamily="18" charset="0"/>
              <a:ea typeface="Noto Sans Arabic Condensed Light"/>
              <a:cs typeface="Times New Roman" panose="02020603050405020304" pitchFamily="18" charset="0"/>
              <a:sym typeface="Noto Sans Arabic Condensed Light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" y="2126153"/>
            <a:ext cx="2985147" cy="486510"/>
            <a:chOff x="0" y="0"/>
            <a:chExt cx="4511426" cy="645687"/>
          </a:xfrm>
        </p:grpSpPr>
        <p:sp>
          <p:nvSpPr>
            <p:cNvPr id="7" name="Freeform 7"/>
            <p:cNvSpPr/>
            <p:nvPr/>
          </p:nvSpPr>
          <p:spPr>
            <a:xfrm flipH="1">
              <a:off x="0" y="0"/>
              <a:ext cx="4511425" cy="645687"/>
            </a:xfrm>
            <a:custGeom>
              <a:avLst/>
              <a:gdLst/>
              <a:ahLst/>
              <a:cxnLst/>
              <a:rect l="l" t="t" r="r" b="b"/>
              <a:pathLst>
                <a:path w="4511425" h="645687">
                  <a:moveTo>
                    <a:pt x="4511425" y="0"/>
                  </a:moveTo>
                  <a:lnTo>
                    <a:pt x="0" y="0"/>
                  </a:lnTo>
                  <a:lnTo>
                    <a:pt x="0" y="645687"/>
                  </a:lnTo>
                  <a:lnTo>
                    <a:pt x="4511425" y="645687"/>
                  </a:lnTo>
                  <a:close/>
                </a:path>
              </a:pathLst>
            </a:custGeom>
            <a:solidFill>
              <a:srgbClr val="95B0CE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8308" y="2232732"/>
            <a:ext cx="2866842" cy="2945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81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Expectations</a:t>
            </a:r>
            <a:endParaRPr lang="en-US" sz="1772" b="1" dirty="0">
              <a:solidFill>
                <a:schemeClr val="bg1"/>
              </a:solidFill>
              <a:latin typeface="Times New Roman" panose="02020603050405020304" pitchFamily="18" charset="0"/>
              <a:ea typeface="Noto Sans Arabic Condensed Light"/>
              <a:cs typeface="Times New Roman" panose="02020603050405020304" pitchFamily="18" charset="0"/>
              <a:sym typeface="Noto Sans Arabic Condensed Ligh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25450" y="2679700"/>
            <a:ext cx="6019800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6"/>
              </a:lnSpc>
            </a:pPr>
            <a:r>
              <a:rPr lang="ar-Y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- </a:t>
            </a:r>
            <a:r>
              <a:rPr lang="ar-Y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Achieve</a:t>
            </a:r>
            <a:r>
              <a:rPr lang="ar-Y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Y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precise</a:t>
            </a:r>
            <a:r>
              <a:rPr lang="ar-Y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Y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ar-Y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Y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ar-Y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Y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ar-Y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Y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filling</a:t>
            </a:r>
            <a:r>
              <a:rPr lang="ar-Y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Y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ar-Y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
- </a:t>
            </a:r>
            <a:r>
              <a:rPr lang="ar-Y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Develop</a:t>
            </a:r>
            <a:r>
              <a:rPr lang="ar-Y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ar-Y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r>
              <a:rPr lang="ar-Y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Y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ar-Y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Y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ar-Y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Y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ar-Y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Y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industrial</a:t>
            </a:r>
            <a:r>
              <a:rPr lang="ar-Y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Y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r>
              <a:rPr lang="ar-Y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
- </a:t>
            </a:r>
            <a:r>
              <a:rPr lang="ar-Y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Gain</a:t>
            </a:r>
            <a:r>
              <a:rPr lang="ar-Y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Y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ar-Y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Y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ar-Y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Y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ar-Y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Y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ar-Y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Y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ar-Y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Y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ar-Y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Y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strategies</a:t>
            </a:r>
            <a:r>
              <a:rPr lang="ar-Y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ea typeface="Tajawal"/>
              <a:cs typeface="Times New Roman" panose="02020603050405020304" pitchFamily="18" charset="0"/>
              <a:sym typeface="Tajawal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0" y="3517900"/>
            <a:ext cx="2985149" cy="486510"/>
            <a:chOff x="0" y="0"/>
            <a:chExt cx="4511426" cy="645687"/>
          </a:xfrm>
        </p:grpSpPr>
        <p:sp>
          <p:nvSpPr>
            <p:cNvPr id="11" name="Freeform 11"/>
            <p:cNvSpPr/>
            <p:nvPr/>
          </p:nvSpPr>
          <p:spPr>
            <a:xfrm flipH="1">
              <a:off x="0" y="0"/>
              <a:ext cx="4511425" cy="645687"/>
            </a:xfrm>
            <a:custGeom>
              <a:avLst/>
              <a:gdLst/>
              <a:ahLst/>
              <a:cxnLst/>
              <a:rect l="l" t="t" r="r" b="b"/>
              <a:pathLst>
                <a:path w="4511425" h="645687">
                  <a:moveTo>
                    <a:pt x="4511425" y="0"/>
                  </a:moveTo>
                  <a:lnTo>
                    <a:pt x="0" y="0"/>
                  </a:lnTo>
                  <a:lnTo>
                    <a:pt x="0" y="645687"/>
                  </a:lnTo>
                  <a:lnTo>
                    <a:pt x="4511425" y="645687"/>
                  </a:lnTo>
                  <a:close/>
                </a:path>
              </a:pathLst>
            </a:custGeom>
            <a:solidFill>
              <a:srgbClr val="95B0CE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18308" y="3594100"/>
            <a:ext cx="2866842" cy="2945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81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THIS PROJECT?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5450" y="4004410"/>
            <a:ext cx="6090042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This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project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offers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a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unique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opportunity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to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integrate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cutting-edge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simulation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and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control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technologies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,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enhancing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efficiency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and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accuracy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in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industrial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automation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.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It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serves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as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a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valuable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learning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experience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in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the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field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of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automated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 </a:t>
            </a:r>
            <a:r>
              <a:rPr lang="ar-YE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systems</a:t>
            </a:r>
            <a:r>
              <a:rPr lang="ar-YE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.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ea typeface="Tajawal"/>
              <a:cs typeface="Times New Roman" panose="02020603050405020304" pitchFamily="18" charset="0"/>
              <a:sym typeface="Tajaw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322</Words>
  <Application>Microsoft Office PowerPoint</Application>
  <PresentationFormat>مخصص</PresentationFormat>
  <Paragraphs>41</Paragraphs>
  <Slides>2</Slides>
  <Notes>0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2</vt:i4>
      </vt:variant>
    </vt:vector>
  </HeadingPairs>
  <TitlesOfParts>
    <vt:vector size="3" baseType="lpstr">
      <vt:lpstr>Office Theme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مقترح عام أزرق مربعات</dc:title>
  <dc:creator>Lenovo</dc:creator>
  <cp:lastModifiedBy>hassan ghaleb</cp:lastModifiedBy>
  <cp:revision>15</cp:revision>
  <dcterms:created xsi:type="dcterms:W3CDTF">2006-08-16T00:00:00Z</dcterms:created>
  <dcterms:modified xsi:type="dcterms:W3CDTF">2024-10-03T22:49:11Z</dcterms:modified>
  <dc:identifier>DAGRU4sYnzA</dc:identifier>
</cp:coreProperties>
</file>